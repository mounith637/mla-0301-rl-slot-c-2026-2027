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12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906935"/>
            <a:ext cx="4114800" cy="411480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397938"/>
            <a:ext cx="3291840" cy="3291840"/>
          </a:xfrm>
          <a:prstGeom prst="ellipse">
            <a:avLst/>
          </a:prstGeom>
          <a:solidFill>
            <a:srgbClr val="2E34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09600" y="542069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775918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Policy Optimization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in Deep Reinforcement Learning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6812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  •   TRPO   •   DDPG   —   A Comparative Study of Convergence, Stability &amp; Efficiency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1555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K.Mounith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519" y="479548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DEE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Reg. No: 1924252090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Optimization in Deep RL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policy-gradient methods matter for modern reinforcement learning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optimization algorithms directly learn a parameterized policy that maps states to actions, rather than deriving behaviour from a value function alone. They power state-of-the-art agents in robotics, games, and continuous-control tasks by balancing sample efficiency, training stability, and computational cost.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3822192"/>
            <a:ext cx="530352" cy="530352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822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40599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surrogate objective for simple, stable updates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4828032"/>
            <a:ext cx="530352" cy="530352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8280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4754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50657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Trust-region constraint via KL divergence for safe steps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5833872"/>
            <a:ext cx="530352" cy="530352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58338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5760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60716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method for continuous action spaces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600200"/>
            <a:ext cx="4937760" cy="4709160"/>
          </a:xfrm>
          <a:prstGeom prst="roundRect">
            <a:avLst>
              <a:gd name="adj" fmla="val 1942"/>
            </a:avLst>
          </a:prstGeom>
          <a:solidFill>
            <a:srgbClr val="1C1E2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– Environment Loop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2468880"/>
            <a:ext cx="1371600" cy="137160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π(a|s)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9760" y="2468880"/>
            <a:ext cx="1371600" cy="1371600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4688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95360" y="2971800"/>
            <a:ext cx="914400" cy="0"/>
          </a:xfrm>
          <a:prstGeom prst="line">
            <a:avLst/>
          </a:prstGeom>
          <a:noFill/>
          <a:ln w="25400">
            <a:solidFill>
              <a:srgbClr val="FF9F4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95360" y="3429000"/>
            <a:ext cx="914400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854964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reward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448056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is updated using gradient estimates from sampled trajectories — PPO, TRPO, and DDPG differ chiefly in how they constrain and stabilize that update.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Proximal Policy Optimization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00200" y="932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first-order, on-policy actor-critic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limits how far a new policy can drift from the old one by clipping the probability ratio in the objective function, avoiding costly second-order optimization while retaining trust-region-like stability.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128016" cy="128016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01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surrogate objective bounds policy updates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68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optimization — easy to implement and tune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128016" cy="128016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535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epochs of minibatch SGD per data batch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1023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as a strong, reliable default baseline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600200"/>
            <a:ext cx="4892040" cy="2148840"/>
          </a:xfrm>
          <a:prstGeom prst="roundRect">
            <a:avLst>
              <a:gd name="adj" fmla="val 4255"/>
            </a:avLst>
          </a:prstGeom>
          <a:solidFill>
            <a:srgbClr val="1C1E26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SURROGATE 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L(θ) = E[ min( rₜ(θ)Aₜ ,</a:t>
            </a: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clip(rₜ(θ), 1-ε, 1+ε) Aₜ ) ]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20840" y="3977640"/>
            <a:ext cx="4892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4160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• Stability • Efficiency Snapshot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5537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45537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reliable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4992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0" y="49926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clipping prevents large steps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54315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0" y="54315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sample &amp; compute efficiency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TRPO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Region Policy Optimization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00200" y="932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Constrained, second-order on-policy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TRPO enforces a hard constraint on the KL divergence between old and new policies, solving a constrained optimization problem each step via conjugate gradients to guarantee monotonic policy improvement.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128016" cy="128016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01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KL-divergence constraint keeps updates within a trust region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68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conjugate gradient + line search for step computation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128016" cy="128016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535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monotonic improvement guarantee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4C5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1023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and computationally expensive than PPO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600200"/>
            <a:ext cx="4892040" cy="2148840"/>
          </a:xfrm>
          <a:prstGeom prst="roundRect">
            <a:avLst>
              <a:gd name="adj" fmla="val 4255"/>
            </a:avLst>
          </a:prstGeom>
          <a:solidFill>
            <a:srgbClr val="1C1E26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maxθ E[rₜ(θ)Aₜ]</a:t>
            </a: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 E[KL(πold || πθ)] ≤ δ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20840" y="3977640"/>
            <a:ext cx="4892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4160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• Stability • Efficiency Snapshot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5537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45537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but slower per iteration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4992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0" y="49926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strict trust region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54315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0" y="54315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costly Hessian-vector products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Deterministic Policy Gradient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00200" y="932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actor-critic for continuous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combines DQN-style experience replay and target networks with a deterministic actor, enabling efficient learning in continuous action spaces where discrete Q-learning cannot be applied directly.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128016" cy="128016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01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actor μ(s) paired with a critic Q(s,a)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68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learning via replay buffer improves sample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128016" cy="128016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535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networks + soft updates stabilize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1023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hyperparameters; exploration needs added noise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600200"/>
            <a:ext cx="4892040" cy="2148840"/>
          </a:xfrm>
          <a:prstGeom prst="roundRect">
            <a:avLst>
              <a:gd name="adj" fmla="val 4255"/>
            </a:avLst>
          </a:prstGeom>
          <a:solidFill>
            <a:srgbClr val="1C1E26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GRADIENT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∇θ J ≈ E[ ∇ₐQ(s,a)|a=μ(s) ∇θμθ(s) ]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20840" y="3977640"/>
            <a:ext cx="4892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4160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• Stability • Efficiency Snapshot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5537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45537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fast, but less predictable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4992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0" y="49926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sensitive to noise &amp; tuning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54315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0" y="54315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sample efficiency (off-policy replay)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Convergence, stability, and efficiency across PPO, TRPO, and DDPG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512064"/>
          </a:xfrm>
          <a:prstGeom prst="rect">
            <a:avLst/>
          </a:prstGeom>
          <a:solidFill>
            <a:srgbClr val="1C1E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600200"/>
            <a:ext cx="2807208" cy="512064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600200"/>
            <a:ext cx="2807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07608" y="1600200"/>
            <a:ext cx="2807208" cy="512064"/>
          </a:xfrm>
          <a:prstGeom prst="rect">
            <a:avLst/>
          </a:prstGeom>
          <a:solidFill>
            <a:srgbClr val="4C5A6E"/>
          </a:solidFill>
          <a:ln/>
        </p:spPr>
      </p:sp>
      <p:sp>
        <p:nvSpPr>
          <p:cNvPr id="9" name="Text 7"/>
          <p:cNvSpPr/>
          <p:nvPr/>
        </p:nvSpPr>
        <p:spPr>
          <a:xfrm>
            <a:off x="6007608" y="1600200"/>
            <a:ext cx="2807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14816" y="1600200"/>
            <a:ext cx="2798064" cy="5120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1" name="Text 9"/>
          <p:cNvSpPr/>
          <p:nvPr/>
        </p:nvSpPr>
        <p:spPr>
          <a:xfrm>
            <a:off x="8814816" y="1600200"/>
            <a:ext cx="2798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12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112264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112264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Stochastic, on-policy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2112264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2112264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Stochastic, on-policy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14816" y="2112264"/>
            <a:ext cx="2798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211226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off-policy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24328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2432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624328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624328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consistent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07608" y="2624328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2624328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costly steps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14816" y="2624328"/>
            <a:ext cx="2798064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2624328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variable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36392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3639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136392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136392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(clipped updates)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07608" y="3136392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3136392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(KL constraint)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14816" y="3136392"/>
            <a:ext cx="2798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06256" y="3136392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(noise-sensitive)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648456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64845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648456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648456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07608" y="3648456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3648456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14816" y="3648456"/>
            <a:ext cx="2798064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06256" y="3648456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(replay buffer)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160520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6052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4160520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416052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07608" y="4160520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9048" y="416052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(2nd-order)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14816" y="4160520"/>
            <a:ext cx="2798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06256" y="4160520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672584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6725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672584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4672584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&amp; continuous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007608" y="4672584"/>
            <a:ext cx="2807208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9048" y="4672584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&amp; continuous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14816" y="4672584"/>
            <a:ext cx="2798064" cy="512064"/>
          </a:xfrm>
          <a:prstGeom prst="rect">
            <a:avLst/>
          </a:prstGeom>
          <a:solidFill>
            <a:srgbClr val="EAF0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06256" y="467258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only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5184648"/>
            <a:ext cx="2651760" cy="512064"/>
          </a:xfrm>
          <a:prstGeom prst="rect">
            <a:avLst/>
          </a:prstGeom>
          <a:solidFill>
            <a:srgbClr val="DCE6F0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18464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0" y="5184648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0" y="5184648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007608" y="5184648"/>
            <a:ext cx="280720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99048" y="5184648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14816" y="5184648"/>
            <a:ext cx="2798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06256" y="5184648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3439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// ALGORITHM SELECTION 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8412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Right Policy Optimization Method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23262F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783080" y="1947672"/>
            <a:ext cx="0" cy="722376"/>
          </a:xfrm>
          <a:prstGeom prst="line">
            <a:avLst/>
          </a:prstGeom>
          <a:noFill/>
          <a:ln w="12700">
            <a:solidFill>
              <a:srgbClr val="3439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7830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
</a:t>
            </a: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for robust, easy-to-tune training across discrete and continuous action spaces.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5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23262F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0175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783080" y="3182112"/>
            <a:ext cx="0" cy="722376"/>
          </a:xfrm>
          <a:prstGeom prst="line">
            <a:avLst/>
          </a:prstGeom>
          <a:noFill/>
          <a:ln w="12700">
            <a:solidFill>
              <a:srgbClr val="3439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0175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TRPO
</a:t>
            </a: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guaranteed monotonic improvement and maximal stability justify the extra compute cost.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23262F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519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783080" y="4416552"/>
            <a:ext cx="0" cy="722376"/>
          </a:xfrm>
          <a:prstGeom prst="line">
            <a:avLst/>
          </a:prstGeom>
          <a:noFill/>
          <a:ln w="12700">
            <a:solidFill>
              <a:srgbClr val="3439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42519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
</a:t>
            </a: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continuous-control problems where sample efficiency from experience replay is critical.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607040" cy="0"/>
          </a:xfrm>
          <a:prstGeom prst="line">
            <a:avLst/>
          </a:prstGeom>
          <a:noFill/>
          <a:ln w="12700">
            <a:solidFill>
              <a:srgbClr val="3439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dominates on every axis — the optimal choice depends on the required balance of sample efficiency, training stability, and available computational budget.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763</Words>
  <Application>Microsoft Office PowerPoint</Application>
  <PresentationFormat>Widescreen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kokamounith@gmail.com</cp:lastModifiedBy>
  <cp:revision>2</cp:revision>
  <dcterms:created xsi:type="dcterms:W3CDTF">2026-08-17T17:13:07Z</dcterms:created>
  <dcterms:modified xsi:type="dcterms:W3CDTF">2026-08-17T17:26:59Z</dcterms:modified>
</cp:coreProperties>
</file>